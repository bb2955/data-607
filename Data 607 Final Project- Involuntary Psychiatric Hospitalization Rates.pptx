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105" d="100"/>
          <a:sy n="105" d="100"/>
        </p:scale>
        <p:origin x="238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B17D92-BA81-446C-94D8-930C326E4A0C}"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189613-BFF0-4FF1-83E2-302BC7DE6AFF}" type="slidenum">
              <a:rPr lang="en-US" smtClean="0"/>
              <a:t>‹#›</a:t>
            </a:fld>
            <a:endParaRPr lang="en-US"/>
          </a:p>
        </p:txBody>
      </p:sp>
    </p:spTree>
    <p:extLst>
      <p:ext uri="{BB962C8B-B14F-4D97-AF65-F5344CB8AC3E}">
        <p14:creationId xmlns:p14="http://schemas.microsoft.com/office/powerpoint/2010/main" val="137419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64AD68-5A4A-41E5-8C9F-5DA8A279D332}" type="datetime1">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1761613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7C665-92CD-47A2-900F-BCAC730E303C}" type="datetime1">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3298324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8B730-B3AD-40C1-B01C-7E2A8D5CE1F6}" type="datetime1">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1619648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F0B695-C7D3-4D08-835C-1F8F89CEB377}" type="datetime1">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125570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2FD81B-72CB-49D9-9EC6-FC8E8DC8FD87}" type="datetime1">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2755812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74EAF54-0309-4645-8F4C-4012BB380460}" type="datetime1">
              <a:rPr lang="en-US" smtClean="0"/>
              <a:t>5/13/2026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3263140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72453AF-9175-479E-A1C1-A97156776F01}" type="datetime1">
              <a:rPr lang="en-US" smtClean="0"/>
              <a:t>5/13/2026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358468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94B0012-0D36-4272-B161-F35489C349C5}" type="datetime1">
              <a:rPr lang="en-US" smtClean="0"/>
              <a:t>5/13/2026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2181484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652BCD-6D37-42A2-9C7F-654C30AECBDA}" type="datetime1">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2759356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D8D59E-C6E0-47A5-BF2C-487C184469ED}" type="datetime1">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3628829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81C8A2D-3145-419E-8052-F1645F278388}" type="datetime1">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2274381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E5BA123-6FC0-4DF3-9C81-3F79DC3C97D7}" type="datetime1">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A8793-64DC-4018-91DA-C47D4E4A66C0}" type="slidenum">
              <a:rPr lang="en-US" smtClean="0"/>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47147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F28104-A3BA-4330-A367-947E72353F52}" type="datetime1">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4810752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3EE2DE2-E359-4334-8A9F-A0392E27DF18}" type="datetime1">
              <a:rPr lang="en-US" smtClean="0"/>
              <a:t>5/13/2026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41962342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98A63F9-92A5-448B-B253-C9181DCAA0D7}" type="datetime1">
              <a:rPr lang="en-US" smtClean="0"/>
              <a:t>5/13/2026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11874372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DE748E-68B3-4AE8-9B62-DFA4C94361B0}" type="datetime1">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9120860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B25796-6D3F-4505-89B8-3851F02086DF}" type="datetime1">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A8793-64DC-4018-91DA-C47D4E4A66C0}" type="slidenum">
              <a:rPr lang="en-US" smtClean="0"/>
              <a:t>‹#›</a:t>
            </a:fld>
            <a:endParaRPr lang="en-US"/>
          </a:p>
        </p:txBody>
      </p:sp>
    </p:spTree>
    <p:extLst>
      <p:ext uri="{BB962C8B-B14F-4D97-AF65-F5344CB8AC3E}">
        <p14:creationId xmlns:p14="http://schemas.microsoft.com/office/powerpoint/2010/main" val="3338595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ECA9DE6-27EC-4744-80EB-2B3C0CAFA8BC}" type="datetime1">
              <a:rPr lang="en-US" smtClean="0"/>
              <a:t>5/13/2026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E5A8793-64DC-4018-91DA-C47D4E4A66C0}" type="slidenum">
              <a:rPr lang="en-US" smtClean="0"/>
              <a:t>‹#›</a:t>
            </a:fld>
            <a:endParaRPr lang="en-US"/>
          </a:p>
        </p:txBody>
      </p:sp>
    </p:spTree>
    <p:extLst>
      <p:ext uri="{BB962C8B-B14F-4D97-AF65-F5344CB8AC3E}">
        <p14:creationId xmlns:p14="http://schemas.microsoft.com/office/powerpoint/2010/main" val="381917132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816-dohbesp.nyc.gov/IndicatorPublic/data-explorer/mental-health/" TargetMode="External"/><Relationship Id="rId2" Type="http://schemas.openxmlformats.org/officeDocument/2006/relationships/hyperlink" Target="https://health.data.ny.gov/resource/46xm-urtu.csv?$limit=50000"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134B9-762F-8EA2-8426-04F191B4F14B}"/>
              </a:ext>
            </a:extLst>
          </p:cNvPr>
          <p:cNvSpPr>
            <a:spLocks noGrp="1"/>
          </p:cNvSpPr>
          <p:nvPr>
            <p:ph type="ctrTitle"/>
          </p:nvPr>
        </p:nvSpPr>
        <p:spPr/>
        <p:txBody>
          <a:bodyPr/>
          <a:lstStyle/>
          <a:p>
            <a:r>
              <a:rPr lang="en-US" sz="4800" dirty="0"/>
              <a:t>Data 607 Final Project- Involuntary Psychiatric Hospitalization Rates in New York</a:t>
            </a:r>
          </a:p>
        </p:txBody>
      </p:sp>
      <p:sp>
        <p:nvSpPr>
          <p:cNvPr id="3" name="Subtitle 2">
            <a:extLst>
              <a:ext uri="{FF2B5EF4-FFF2-40B4-BE49-F238E27FC236}">
                <a16:creationId xmlns:a16="http://schemas.microsoft.com/office/drawing/2014/main" id="{F5778681-0342-6A0B-B4D5-50DA4F5E4774}"/>
              </a:ext>
            </a:extLst>
          </p:cNvPr>
          <p:cNvSpPr>
            <a:spLocks noGrp="1"/>
          </p:cNvSpPr>
          <p:nvPr>
            <p:ph type="subTitle" idx="1"/>
          </p:nvPr>
        </p:nvSpPr>
        <p:spPr/>
        <p:txBody>
          <a:bodyPr/>
          <a:lstStyle/>
          <a:p>
            <a:r>
              <a:rPr lang="en-US" dirty="0"/>
              <a:t>Benjamin Bravo</a:t>
            </a:r>
          </a:p>
        </p:txBody>
      </p:sp>
      <p:sp>
        <p:nvSpPr>
          <p:cNvPr id="4" name="Slide Number Placeholder 3">
            <a:extLst>
              <a:ext uri="{FF2B5EF4-FFF2-40B4-BE49-F238E27FC236}">
                <a16:creationId xmlns:a16="http://schemas.microsoft.com/office/drawing/2014/main" id="{93818F1A-883F-9FA4-305C-E655E856587B}"/>
              </a:ext>
            </a:extLst>
          </p:cNvPr>
          <p:cNvSpPr>
            <a:spLocks noGrp="1"/>
          </p:cNvSpPr>
          <p:nvPr>
            <p:ph type="sldNum" sz="quarter" idx="12"/>
          </p:nvPr>
        </p:nvSpPr>
        <p:spPr/>
        <p:txBody>
          <a:bodyPr/>
          <a:lstStyle/>
          <a:p>
            <a:fld id="{9E5A8793-64DC-4018-91DA-C47D4E4A66C0}" type="slidenum">
              <a:rPr lang="en-US" smtClean="0"/>
              <a:t>1</a:t>
            </a:fld>
            <a:endParaRPr lang="en-US"/>
          </a:p>
        </p:txBody>
      </p:sp>
    </p:spTree>
    <p:extLst>
      <p:ext uri="{BB962C8B-B14F-4D97-AF65-F5344CB8AC3E}">
        <p14:creationId xmlns:p14="http://schemas.microsoft.com/office/powerpoint/2010/main" val="2563122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4BC6-499F-7CB8-965C-8E431909E2B2}"/>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6ADC242C-1789-97AA-BC9B-5D4C7130E59A}"/>
              </a:ext>
            </a:extLst>
          </p:cNvPr>
          <p:cNvSpPr>
            <a:spLocks noGrp="1"/>
          </p:cNvSpPr>
          <p:nvPr>
            <p:ph idx="1"/>
          </p:nvPr>
        </p:nvSpPr>
        <p:spPr/>
        <p:txBody>
          <a:bodyPr>
            <a:normAutofit fontScale="92500" lnSpcReduction="20000"/>
          </a:bodyPr>
          <a:lstStyle/>
          <a:p>
            <a:r>
              <a:rPr lang="en-US" dirty="0"/>
              <a:t>This project analyzes psychiatric hospitalization patterns in New York City as a way to understand where emergency or involuntary mental health intervention may be most needed. Psychiatric hospitalization is important because it can indicate severe mental health crises where a person may be at risk of harm to themselves or others. Although hospitalization can provide immediate safety and stabilization, high hospitalization rates may also show gaps in outpatient care, crisis response, housing support, and preventive mental health services.</a:t>
            </a:r>
          </a:p>
          <a:p>
            <a:r>
              <a:rPr lang="en-US" u="sng" dirty="0"/>
              <a:t>Main Research Question</a:t>
            </a:r>
            <a:r>
              <a:rPr lang="en-US" dirty="0"/>
              <a:t>: Do psychiatric hospitalization rates differ by community and demographic factors, and how can this information benefit the community?</a:t>
            </a:r>
          </a:p>
          <a:p>
            <a:r>
              <a:rPr lang="en-US" u="sng" dirty="0"/>
              <a:t>Hypothesis</a:t>
            </a:r>
            <a:r>
              <a:rPr lang="en-US" dirty="0"/>
              <a:t>: Communities with higher poverty levels and groups with less access to preventive mental health care will experience higher psychiatric hospitalization rates. Identifying these patterns can help public health officials better target crisis teams, outpatient programs, and community support services.</a:t>
            </a:r>
          </a:p>
        </p:txBody>
      </p:sp>
      <p:sp>
        <p:nvSpPr>
          <p:cNvPr id="4" name="Slide Number Placeholder 3">
            <a:extLst>
              <a:ext uri="{FF2B5EF4-FFF2-40B4-BE49-F238E27FC236}">
                <a16:creationId xmlns:a16="http://schemas.microsoft.com/office/drawing/2014/main" id="{7623D8F8-E29F-2B70-48CD-CF101E0BAE8F}"/>
              </a:ext>
            </a:extLst>
          </p:cNvPr>
          <p:cNvSpPr>
            <a:spLocks noGrp="1"/>
          </p:cNvSpPr>
          <p:nvPr>
            <p:ph type="sldNum" sz="quarter" idx="12"/>
          </p:nvPr>
        </p:nvSpPr>
        <p:spPr/>
        <p:txBody>
          <a:bodyPr/>
          <a:lstStyle/>
          <a:p>
            <a:fld id="{9E5A8793-64DC-4018-91DA-C47D4E4A66C0}" type="slidenum">
              <a:rPr lang="en-US" smtClean="0"/>
              <a:t>2</a:t>
            </a:fld>
            <a:endParaRPr lang="en-US"/>
          </a:p>
        </p:txBody>
      </p:sp>
    </p:spTree>
    <p:extLst>
      <p:ext uri="{BB962C8B-B14F-4D97-AF65-F5344CB8AC3E}">
        <p14:creationId xmlns:p14="http://schemas.microsoft.com/office/powerpoint/2010/main" val="3166744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56B1F-C792-2F55-E859-EDD07D6FD98E}"/>
              </a:ext>
            </a:extLst>
          </p:cNvPr>
          <p:cNvSpPr>
            <a:spLocks noGrp="1"/>
          </p:cNvSpPr>
          <p:nvPr>
            <p:ph type="title"/>
          </p:nvPr>
        </p:nvSpPr>
        <p:spPr/>
        <p:txBody>
          <a:bodyPr/>
          <a:lstStyle/>
          <a:p>
            <a:r>
              <a:rPr lang="en-US" dirty="0"/>
              <a:t>Packages Installed</a:t>
            </a:r>
          </a:p>
        </p:txBody>
      </p:sp>
      <p:sp>
        <p:nvSpPr>
          <p:cNvPr id="3" name="Content Placeholder 2">
            <a:extLst>
              <a:ext uri="{FF2B5EF4-FFF2-40B4-BE49-F238E27FC236}">
                <a16:creationId xmlns:a16="http://schemas.microsoft.com/office/drawing/2014/main" id="{17EADEFE-6F65-2493-D69B-81F3817C5C0A}"/>
              </a:ext>
            </a:extLst>
          </p:cNvPr>
          <p:cNvSpPr>
            <a:spLocks noGrp="1"/>
          </p:cNvSpPr>
          <p:nvPr>
            <p:ph idx="1"/>
          </p:nvPr>
        </p:nvSpPr>
        <p:spPr>
          <a:xfrm>
            <a:off x="1103313" y="2052918"/>
            <a:ext cx="5096320" cy="4195481"/>
          </a:xfrm>
        </p:spPr>
        <p:txBody>
          <a:bodyPr/>
          <a:lstStyle/>
          <a:p>
            <a:r>
              <a:rPr lang="en-US" dirty="0" err="1"/>
              <a:t>Tidyverse</a:t>
            </a:r>
            <a:endParaRPr lang="en-US" dirty="0"/>
          </a:p>
          <a:p>
            <a:r>
              <a:rPr lang="en-US" dirty="0"/>
              <a:t>Janitor</a:t>
            </a:r>
          </a:p>
          <a:p>
            <a:r>
              <a:rPr lang="en-US" dirty="0" err="1"/>
              <a:t>Readr</a:t>
            </a:r>
            <a:endParaRPr lang="en-US" dirty="0"/>
          </a:p>
          <a:p>
            <a:r>
              <a:rPr lang="en-US" dirty="0"/>
              <a:t>Ggplot2</a:t>
            </a:r>
          </a:p>
          <a:p>
            <a:r>
              <a:rPr lang="en-US" dirty="0"/>
              <a:t>Scales</a:t>
            </a:r>
          </a:p>
          <a:p>
            <a:endParaRPr lang="en-US" dirty="0"/>
          </a:p>
        </p:txBody>
      </p:sp>
      <p:sp>
        <p:nvSpPr>
          <p:cNvPr id="4" name="Slide Number Placeholder 3">
            <a:extLst>
              <a:ext uri="{FF2B5EF4-FFF2-40B4-BE49-F238E27FC236}">
                <a16:creationId xmlns:a16="http://schemas.microsoft.com/office/drawing/2014/main" id="{5358C0A2-2DA1-8187-1138-1E067B5730FE}"/>
              </a:ext>
            </a:extLst>
          </p:cNvPr>
          <p:cNvSpPr>
            <a:spLocks noGrp="1"/>
          </p:cNvSpPr>
          <p:nvPr>
            <p:ph type="sldNum" sz="quarter" idx="12"/>
          </p:nvPr>
        </p:nvSpPr>
        <p:spPr/>
        <p:txBody>
          <a:bodyPr/>
          <a:lstStyle/>
          <a:p>
            <a:fld id="{9E5A8793-64DC-4018-91DA-C47D4E4A66C0}" type="slidenum">
              <a:rPr lang="en-US" smtClean="0"/>
              <a:t>3</a:t>
            </a:fld>
            <a:endParaRPr lang="en-US"/>
          </a:p>
        </p:txBody>
      </p:sp>
      <p:pic>
        <p:nvPicPr>
          <p:cNvPr id="6" name="Picture 5">
            <a:extLst>
              <a:ext uri="{FF2B5EF4-FFF2-40B4-BE49-F238E27FC236}">
                <a16:creationId xmlns:a16="http://schemas.microsoft.com/office/drawing/2014/main" id="{CAB77425-085F-4EDE-F174-F4AFE39AAE5A}"/>
              </a:ext>
            </a:extLst>
          </p:cNvPr>
          <p:cNvPicPr>
            <a:picLocks noChangeAspect="1"/>
          </p:cNvPicPr>
          <p:nvPr/>
        </p:nvPicPr>
        <p:blipFill>
          <a:blip r:embed="rId2"/>
          <a:stretch>
            <a:fillRect/>
          </a:stretch>
        </p:blipFill>
        <p:spPr>
          <a:xfrm>
            <a:off x="5348472" y="2052918"/>
            <a:ext cx="3915321" cy="1714739"/>
          </a:xfrm>
          <a:prstGeom prst="rect">
            <a:avLst/>
          </a:prstGeom>
        </p:spPr>
      </p:pic>
      <p:pic>
        <p:nvPicPr>
          <p:cNvPr id="8" name="Picture 7">
            <a:extLst>
              <a:ext uri="{FF2B5EF4-FFF2-40B4-BE49-F238E27FC236}">
                <a16:creationId xmlns:a16="http://schemas.microsoft.com/office/drawing/2014/main" id="{3E0E5480-F701-F088-9995-39D9A38F2C8D}"/>
              </a:ext>
            </a:extLst>
          </p:cNvPr>
          <p:cNvPicPr>
            <a:picLocks noChangeAspect="1"/>
          </p:cNvPicPr>
          <p:nvPr/>
        </p:nvPicPr>
        <p:blipFill>
          <a:blip r:embed="rId3"/>
          <a:stretch>
            <a:fillRect/>
          </a:stretch>
        </p:blipFill>
        <p:spPr>
          <a:xfrm>
            <a:off x="5348472" y="3967327"/>
            <a:ext cx="3982006" cy="1667108"/>
          </a:xfrm>
          <a:prstGeom prst="rect">
            <a:avLst/>
          </a:prstGeom>
        </p:spPr>
      </p:pic>
    </p:spTree>
    <p:extLst>
      <p:ext uri="{BB962C8B-B14F-4D97-AF65-F5344CB8AC3E}">
        <p14:creationId xmlns:p14="http://schemas.microsoft.com/office/powerpoint/2010/main" val="3635573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97DB4-9768-42DC-CBB7-5E4B93D3D434}"/>
              </a:ext>
            </a:extLst>
          </p:cNvPr>
          <p:cNvSpPr>
            <a:spLocks noGrp="1"/>
          </p:cNvSpPr>
          <p:nvPr>
            <p:ph type="title"/>
          </p:nvPr>
        </p:nvSpPr>
        <p:spPr/>
        <p:txBody>
          <a:bodyPr/>
          <a:lstStyle/>
          <a:p>
            <a:r>
              <a:rPr lang="en-US" dirty="0"/>
              <a:t>Data Sources</a:t>
            </a:r>
          </a:p>
        </p:txBody>
      </p:sp>
      <p:sp>
        <p:nvSpPr>
          <p:cNvPr id="3" name="Content Placeholder 2">
            <a:extLst>
              <a:ext uri="{FF2B5EF4-FFF2-40B4-BE49-F238E27FC236}">
                <a16:creationId xmlns:a16="http://schemas.microsoft.com/office/drawing/2014/main" id="{37A3F996-8762-B856-4A67-970230C3B504}"/>
              </a:ext>
            </a:extLst>
          </p:cNvPr>
          <p:cNvSpPr>
            <a:spLocks noGrp="1"/>
          </p:cNvSpPr>
          <p:nvPr>
            <p:ph idx="1"/>
          </p:nvPr>
        </p:nvSpPr>
        <p:spPr>
          <a:xfrm>
            <a:off x="1103313" y="2052918"/>
            <a:ext cx="4063048" cy="4195481"/>
          </a:xfrm>
        </p:spPr>
        <p:txBody>
          <a:bodyPr/>
          <a:lstStyle/>
          <a:p>
            <a:r>
              <a:rPr lang="en-US" dirty="0">
                <a:hlinkClick r:id="rId2"/>
              </a:rPr>
              <a:t>https://health.data.ny.gov/resource/46xm-urtu.csv?$limit=50000</a:t>
            </a:r>
            <a:endParaRPr lang="en-US" dirty="0"/>
          </a:p>
          <a:p>
            <a:r>
              <a:rPr lang="en-US" dirty="0">
                <a:hlinkClick r:id="rId3"/>
              </a:rPr>
              <a:t>https://a816-dohbesp.nyc.gov/IndicatorPublic/data-explorer/mental-health/</a:t>
            </a:r>
            <a:r>
              <a:rPr lang="en-US" dirty="0"/>
              <a:t> </a:t>
            </a:r>
          </a:p>
        </p:txBody>
      </p:sp>
      <p:sp>
        <p:nvSpPr>
          <p:cNvPr id="4" name="Slide Number Placeholder 3">
            <a:extLst>
              <a:ext uri="{FF2B5EF4-FFF2-40B4-BE49-F238E27FC236}">
                <a16:creationId xmlns:a16="http://schemas.microsoft.com/office/drawing/2014/main" id="{652BFDCC-3493-3E1B-ADC4-A2C41B11FB62}"/>
              </a:ext>
            </a:extLst>
          </p:cNvPr>
          <p:cNvSpPr>
            <a:spLocks noGrp="1"/>
          </p:cNvSpPr>
          <p:nvPr>
            <p:ph type="sldNum" sz="quarter" idx="12"/>
          </p:nvPr>
        </p:nvSpPr>
        <p:spPr/>
        <p:txBody>
          <a:bodyPr/>
          <a:lstStyle/>
          <a:p>
            <a:fld id="{9E5A8793-64DC-4018-91DA-C47D4E4A66C0}" type="slidenum">
              <a:rPr lang="en-US" smtClean="0"/>
              <a:t>4</a:t>
            </a:fld>
            <a:endParaRPr lang="en-US"/>
          </a:p>
        </p:txBody>
      </p:sp>
      <p:pic>
        <p:nvPicPr>
          <p:cNvPr id="6" name="Picture 5">
            <a:extLst>
              <a:ext uri="{FF2B5EF4-FFF2-40B4-BE49-F238E27FC236}">
                <a16:creationId xmlns:a16="http://schemas.microsoft.com/office/drawing/2014/main" id="{19AA8FC0-02EE-959C-64AE-0CFFBC55EAFC}"/>
              </a:ext>
            </a:extLst>
          </p:cNvPr>
          <p:cNvPicPr>
            <a:picLocks noChangeAspect="1"/>
          </p:cNvPicPr>
          <p:nvPr/>
        </p:nvPicPr>
        <p:blipFill>
          <a:blip r:embed="rId4"/>
          <a:stretch>
            <a:fillRect/>
          </a:stretch>
        </p:blipFill>
        <p:spPr>
          <a:xfrm>
            <a:off x="5708618" y="2119910"/>
            <a:ext cx="5184064" cy="953573"/>
          </a:xfrm>
          <a:prstGeom prst="rect">
            <a:avLst/>
          </a:prstGeom>
        </p:spPr>
      </p:pic>
      <p:pic>
        <p:nvPicPr>
          <p:cNvPr id="8" name="Picture 7">
            <a:extLst>
              <a:ext uri="{FF2B5EF4-FFF2-40B4-BE49-F238E27FC236}">
                <a16:creationId xmlns:a16="http://schemas.microsoft.com/office/drawing/2014/main" id="{4E033014-2237-0C8D-2C32-5B25E25C5A1B}"/>
              </a:ext>
            </a:extLst>
          </p:cNvPr>
          <p:cNvPicPr>
            <a:picLocks noChangeAspect="1"/>
          </p:cNvPicPr>
          <p:nvPr/>
        </p:nvPicPr>
        <p:blipFill>
          <a:blip r:embed="rId5"/>
          <a:stretch>
            <a:fillRect/>
          </a:stretch>
        </p:blipFill>
        <p:spPr>
          <a:xfrm>
            <a:off x="5586405" y="3362290"/>
            <a:ext cx="6095997" cy="1165809"/>
          </a:xfrm>
          <a:prstGeom prst="rect">
            <a:avLst/>
          </a:prstGeom>
        </p:spPr>
      </p:pic>
    </p:spTree>
    <p:extLst>
      <p:ext uri="{BB962C8B-B14F-4D97-AF65-F5344CB8AC3E}">
        <p14:creationId xmlns:p14="http://schemas.microsoft.com/office/powerpoint/2010/main" val="4168175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37D96-7EE8-C9FD-FC95-85CE04E58A13}"/>
              </a:ext>
            </a:extLst>
          </p:cNvPr>
          <p:cNvSpPr>
            <a:spLocks noGrp="1"/>
          </p:cNvSpPr>
          <p:nvPr>
            <p:ph type="title"/>
          </p:nvPr>
        </p:nvSpPr>
        <p:spPr/>
        <p:txBody>
          <a:bodyPr/>
          <a:lstStyle/>
          <a:p>
            <a:r>
              <a:rPr lang="en-US" dirty="0"/>
              <a:t>Data Cleaning and Transformation</a:t>
            </a:r>
          </a:p>
        </p:txBody>
      </p:sp>
      <p:pic>
        <p:nvPicPr>
          <p:cNvPr id="6" name="Content Placeholder 5">
            <a:extLst>
              <a:ext uri="{FF2B5EF4-FFF2-40B4-BE49-F238E27FC236}">
                <a16:creationId xmlns:a16="http://schemas.microsoft.com/office/drawing/2014/main" id="{4F5D7EBD-8ADE-7583-4774-F6E14BE14F71}"/>
              </a:ext>
            </a:extLst>
          </p:cNvPr>
          <p:cNvPicPr>
            <a:picLocks noGrp="1" noChangeAspect="1"/>
          </p:cNvPicPr>
          <p:nvPr>
            <p:ph idx="1"/>
          </p:nvPr>
        </p:nvPicPr>
        <p:blipFill>
          <a:blip r:embed="rId2"/>
          <a:stretch>
            <a:fillRect/>
          </a:stretch>
        </p:blipFill>
        <p:spPr>
          <a:xfrm>
            <a:off x="1182398" y="2081024"/>
            <a:ext cx="8697539" cy="2695951"/>
          </a:xfrm>
          <a:prstGeom prst="rect">
            <a:avLst/>
          </a:prstGeom>
        </p:spPr>
      </p:pic>
      <p:sp>
        <p:nvSpPr>
          <p:cNvPr id="4" name="Slide Number Placeholder 3">
            <a:extLst>
              <a:ext uri="{FF2B5EF4-FFF2-40B4-BE49-F238E27FC236}">
                <a16:creationId xmlns:a16="http://schemas.microsoft.com/office/drawing/2014/main" id="{4B150CD4-E371-3F20-4C98-90FDD5EBEC73}"/>
              </a:ext>
            </a:extLst>
          </p:cNvPr>
          <p:cNvSpPr>
            <a:spLocks noGrp="1"/>
          </p:cNvSpPr>
          <p:nvPr>
            <p:ph type="sldNum" sz="quarter" idx="12"/>
          </p:nvPr>
        </p:nvSpPr>
        <p:spPr/>
        <p:txBody>
          <a:bodyPr/>
          <a:lstStyle/>
          <a:p>
            <a:fld id="{9E5A8793-64DC-4018-91DA-C47D4E4A66C0}" type="slidenum">
              <a:rPr lang="en-US" smtClean="0"/>
              <a:t>5</a:t>
            </a:fld>
            <a:endParaRPr lang="en-US"/>
          </a:p>
        </p:txBody>
      </p:sp>
    </p:spTree>
    <p:extLst>
      <p:ext uri="{BB962C8B-B14F-4D97-AF65-F5344CB8AC3E}">
        <p14:creationId xmlns:p14="http://schemas.microsoft.com/office/powerpoint/2010/main" val="3111984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1D65C-7FFA-C1B8-61CE-799D51B5677B}"/>
              </a:ext>
            </a:extLst>
          </p:cNvPr>
          <p:cNvSpPr>
            <a:spLocks noGrp="1"/>
          </p:cNvSpPr>
          <p:nvPr>
            <p:ph type="title"/>
          </p:nvPr>
        </p:nvSpPr>
        <p:spPr/>
        <p:txBody>
          <a:bodyPr/>
          <a:lstStyle/>
          <a:p>
            <a:r>
              <a:rPr lang="en-US" dirty="0"/>
              <a:t>Mental Health-Related Hospitalizations</a:t>
            </a:r>
          </a:p>
        </p:txBody>
      </p:sp>
      <p:pic>
        <p:nvPicPr>
          <p:cNvPr id="6" name="Content Placeholder 5">
            <a:extLst>
              <a:ext uri="{FF2B5EF4-FFF2-40B4-BE49-F238E27FC236}">
                <a16:creationId xmlns:a16="http://schemas.microsoft.com/office/drawing/2014/main" id="{F2F4FED0-D26A-9579-2E22-BF5E756DADC3}"/>
              </a:ext>
            </a:extLst>
          </p:cNvPr>
          <p:cNvPicPr>
            <a:picLocks noGrp="1" noChangeAspect="1"/>
          </p:cNvPicPr>
          <p:nvPr>
            <p:ph idx="1"/>
          </p:nvPr>
        </p:nvPicPr>
        <p:blipFill>
          <a:blip r:embed="rId2"/>
          <a:stretch>
            <a:fillRect/>
          </a:stretch>
        </p:blipFill>
        <p:spPr>
          <a:xfrm>
            <a:off x="1345493" y="2140702"/>
            <a:ext cx="8316486" cy="3324689"/>
          </a:xfrm>
          <a:prstGeom prst="rect">
            <a:avLst/>
          </a:prstGeom>
        </p:spPr>
      </p:pic>
      <p:sp>
        <p:nvSpPr>
          <p:cNvPr id="4" name="Slide Number Placeholder 3">
            <a:extLst>
              <a:ext uri="{FF2B5EF4-FFF2-40B4-BE49-F238E27FC236}">
                <a16:creationId xmlns:a16="http://schemas.microsoft.com/office/drawing/2014/main" id="{EB309016-56A4-A257-81AD-C0C86FA2E0C7}"/>
              </a:ext>
            </a:extLst>
          </p:cNvPr>
          <p:cNvSpPr>
            <a:spLocks noGrp="1"/>
          </p:cNvSpPr>
          <p:nvPr>
            <p:ph type="sldNum" sz="quarter" idx="12"/>
          </p:nvPr>
        </p:nvSpPr>
        <p:spPr/>
        <p:txBody>
          <a:bodyPr/>
          <a:lstStyle/>
          <a:p>
            <a:fld id="{9E5A8793-64DC-4018-91DA-C47D4E4A66C0}" type="slidenum">
              <a:rPr lang="en-US" smtClean="0"/>
              <a:t>6</a:t>
            </a:fld>
            <a:endParaRPr lang="en-US"/>
          </a:p>
        </p:txBody>
      </p:sp>
    </p:spTree>
    <p:extLst>
      <p:ext uri="{BB962C8B-B14F-4D97-AF65-F5344CB8AC3E}">
        <p14:creationId xmlns:p14="http://schemas.microsoft.com/office/powerpoint/2010/main" val="1289628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7F9E1-F606-9969-42E3-7E6E6A2CE698}"/>
              </a:ext>
            </a:extLst>
          </p:cNvPr>
          <p:cNvSpPr>
            <a:spLocks noGrp="1"/>
          </p:cNvSpPr>
          <p:nvPr>
            <p:ph type="title"/>
          </p:nvPr>
        </p:nvSpPr>
        <p:spPr/>
        <p:txBody>
          <a:bodyPr/>
          <a:lstStyle/>
          <a:p>
            <a:r>
              <a:rPr lang="en-US" dirty="0"/>
              <a:t>Summary Statistics</a:t>
            </a:r>
          </a:p>
        </p:txBody>
      </p:sp>
      <p:sp>
        <p:nvSpPr>
          <p:cNvPr id="4" name="Slide Number Placeholder 3">
            <a:extLst>
              <a:ext uri="{FF2B5EF4-FFF2-40B4-BE49-F238E27FC236}">
                <a16:creationId xmlns:a16="http://schemas.microsoft.com/office/drawing/2014/main" id="{33BC4B00-462D-38DB-CE7A-C55B7BDB811F}"/>
              </a:ext>
            </a:extLst>
          </p:cNvPr>
          <p:cNvSpPr>
            <a:spLocks noGrp="1"/>
          </p:cNvSpPr>
          <p:nvPr>
            <p:ph type="sldNum" sz="quarter" idx="12"/>
          </p:nvPr>
        </p:nvSpPr>
        <p:spPr/>
        <p:txBody>
          <a:bodyPr/>
          <a:lstStyle/>
          <a:p>
            <a:fld id="{9E5A8793-64DC-4018-91DA-C47D4E4A66C0}" type="slidenum">
              <a:rPr lang="en-US" smtClean="0"/>
              <a:t>7</a:t>
            </a:fld>
            <a:endParaRPr lang="en-US"/>
          </a:p>
        </p:txBody>
      </p:sp>
      <p:pic>
        <p:nvPicPr>
          <p:cNvPr id="6" name="Picture 5">
            <a:extLst>
              <a:ext uri="{FF2B5EF4-FFF2-40B4-BE49-F238E27FC236}">
                <a16:creationId xmlns:a16="http://schemas.microsoft.com/office/drawing/2014/main" id="{EFA1170E-E01F-E5E5-49D8-21DD3E0A55E7}"/>
              </a:ext>
            </a:extLst>
          </p:cNvPr>
          <p:cNvPicPr>
            <a:picLocks noChangeAspect="1"/>
          </p:cNvPicPr>
          <p:nvPr/>
        </p:nvPicPr>
        <p:blipFill>
          <a:blip r:embed="rId2"/>
          <a:stretch>
            <a:fillRect/>
          </a:stretch>
        </p:blipFill>
        <p:spPr>
          <a:xfrm>
            <a:off x="2584638" y="1551819"/>
            <a:ext cx="6275897" cy="2030868"/>
          </a:xfrm>
          <a:prstGeom prst="rect">
            <a:avLst/>
          </a:prstGeom>
        </p:spPr>
      </p:pic>
      <p:pic>
        <p:nvPicPr>
          <p:cNvPr id="8" name="Picture 7">
            <a:extLst>
              <a:ext uri="{FF2B5EF4-FFF2-40B4-BE49-F238E27FC236}">
                <a16:creationId xmlns:a16="http://schemas.microsoft.com/office/drawing/2014/main" id="{5F1CFA76-737C-10BB-C22B-A6EDF4DC2AE6}"/>
              </a:ext>
            </a:extLst>
          </p:cNvPr>
          <p:cNvPicPr>
            <a:picLocks noChangeAspect="1"/>
          </p:cNvPicPr>
          <p:nvPr/>
        </p:nvPicPr>
        <p:blipFill>
          <a:blip r:embed="rId3"/>
          <a:stretch>
            <a:fillRect/>
          </a:stretch>
        </p:blipFill>
        <p:spPr>
          <a:xfrm>
            <a:off x="2086322" y="3927525"/>
            <a:ext cx="7272528" cy="1077228"/>
          </a:xfrm>
          <a:prstGeom prst="rect">
            <a:avLst/>
          </a:prstGeom>
        </p:spPr>
      </p:pic>
    </p:spTree>
    <p:extLst>
      <p:ext uri="{BB962C8B-B14F-4D97-AF65-F5344CB8AC3E}">
        <p14:creationId xmlns:p14="http://schemas.microsoft.com/office/powerpoint/2010/main" val="4053377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19DD4-DF9C-3FC4-85BC-625ED1DEEA9E}"/>
              </a:ext>
            </a:extLst>
          </p:cNvPr>
          <p:cNvSpPr>
            <a:spLocks noGrp="1"/>
          </p:cNvSpPr>
          <p:nvPr>
            <p:ph type="title"/>
          </p:nvPr>
        </p:nvSpPr>
        <p:spPr/>
        <p:txBody>
          <a:bodyPr/>
          <a:lstStyle/>
          <a:p>
            <a:r>
              <a:rPr lang="en-US" dirty="0"/>
              <a:t>Hospitalizations by Age Group</a:t>
            </a:r>
          </a:p>
        </p:txBody>
      </p:sp>
      <p:pic>
        <p:nvPicPr>
          <p:cNvPr id="6" name="Content Placeholder 5">
            <a:extLst>
              <a:ext uri="{FF2B5EF4-FFF2-40B4-BE49-F238E27FC236}">
                <a16:creationId xmlns:a16="http://schemas.microsoft.com/office/drawing/2014/main" id="{3522B4E1-1243-69EA-7D2D-7390FF944D26}"/>
              </a:ext>
            </a:extLst>
          </p:cNvPr>
          <p:cNvPicPr>
            <a:picLocks noGrp="1" noChangeAspect="1"/>
          </p:cNvPicPr>
          <p:nvPr>
            <p:ph idx="1"/>
          </p:nvPr>
        </p:nvPicPr>
        <p:blipFill>
          <a:blip r:embed="rId2"/>
          <a:srcRect r="7039"/>
          <a:stretch>
            <a:fillRect/>
          </a:stretch>
        </p:blipFill>
        <p:spPr>
          <a:xfrm>
            <a:off x="407453" y="2513902"/>
            <a:ext cx="5688547" cy="2268410"/>
          </a:xfrm>
          <a:prstGeom prst="rect">
            <a:avLst/>
          </a:prstGeom>
        </p:spPr>
      </p:pic>
      <p:sp>
        <p:nvSpPr>
          <p:cNvPr id="4" name="Slide Number Placeholder 3">
            <a:extLst>
              <a:ext uri="{FF2B5EF4-FFF2-40B4-BE49-F238E27FC236}">
                <a16:creationId xmlns:a16="http://schemas.microsoft.com/office/drawing/2014/main" id="{2AC6B0C6-6ED8-933C-36F3-236CBE68947F}"/>
              </a:ext>
            </a:extLst>
          </p:cNvPr>
          <p:cNvSpPr>
            <a:spLocks noGrp="1"/>
          </p:cNvSpPr>
          <p:nvPr>
            <p:ph type="sldNum" sz="quarter" idx="12"/>
          </p:nvPr>
        </p:nvSpPr>
        <p:spPr/>
        <p:txBody>
          <a:bodyPr/>
          <a:lstStyle/>
          <a:p>
            <a:fld id="{9E5A8793-64DC-4018-91DA-C47D4E4A66C0}" type="slidenum">
              <a:rPr lang="en-US" smtClean="0"/>
              <a:t>8</a:t>
            </a:fld>
            <a:endParaRPr lang="en-US"/>
          </a:p>
        </p:txBody>
      </p:sp>
      <p:pic>
        <p:nvPicPr>
          <p:cNvPr id="9" name="Picture 8">
            <a:extLst>
              <a:ext uri="{FF2B5EF4-FFF2-40B4-BE49-F238E27FC236}">
                <a16:creationId xmlns:a16="http://schemas.microsoft.com/office/drawing/2014/main" id="{55F98302-11C6-CB15-635E-6FF1A6EBFCA3}"/>
              </a:ext>
            </a:extLst>
          </p:cNvPr>
          <p:cNvPicPr>
            <a:picLocks noChangeAspect="1"/>
          </p:cNvPicPr>
          <p:nvPr/>
        </p:nvPicPr>
        <p:blipFill>
          <a:blip r:embed="rId3"/>
          <a:stretch>
            <a:fillRect/>
          </a:stretch>
        </p:blipFill>
        <p:spPr>
          <a:xfrm>
            <a:off x="6200469" y="1675319"/>
            <a:ext cx="5800437" cy="3507362"/>
          </a:xfrm>
          <a:prstGeom prst="rect">
            <a:avLst/>
          </a:prstGeom>
        </p:spPr>
      </p:pic>
    </p:spTree>
    <p:extLst>
      <p:ext uri="{BB962C8B-B14F-4D97-AF65-F5344CB8AC3E}">
        <p14:creationId xmlns:p14="http://schemas.microsoft.com/office/powerpoint/2010/main" val="2275339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046F2-BE66-26E9-F160-157B74BBD68E}"/>
              </a:ext>
            </a:extLst>
          </p:cNvPr>
          <p:cNvSpPr>
            <a:spLocks noGrp="1"/>
          </p:cNvSpPr>
          <p:nvPr>
            <p:ph type="title"/>
          </p:nvPr>
        </p:nvSpPr>
        <p:spPr/>
        <p:txBody>
          <a:bodyPr/>
          <a:lstStyle/>
          <a:p>
            <a:r>
              <a:rPr lang="en-US" dirty="0"/>
              <a:t>Hospitalizations by Race</a:t>
            </a:r>
          </a:p>
        </p:txBody>
      </p:sp>
      <p:pic>
        <p:nvPicPr>
          <p:cNvPr id="6" name="Content Placeholder 5">
            <a:extLst>
              <a:ext uri="{FF2B5EF4-FFF2-40B4-BE49-F238E27FC236}">
                <a16:creationId xmlns:a16="http://schemas.microsoft.com/office/drawing/2014/main" id="{F797CB7B-F65B-F9EA-1E16-3B5B6D15F34C}"/>
              </a:ext>
            </a:extLst>
          </p:cNvPr>
          <p:cNvPicPr>
            <a:picLocks noGrp="1" noChangeAspect="1"/>
          </p:cNvPicPr>
          <p:nvPr>
            <p:ph idx="1"/>
          </p:nvPr>
        </p:nvPicPr>
        <p:blipFill>
          <a:blip r:embed="rId2"/>
          <a:stretch>
            <a:fillRect/>
          </a:stretch>
        </p:blipFill>
        <p:spPr>
          <a:xfrm>
            <a:off x="405255" y="2382310"/>
            <a:ext cx="4834258" cy="2093379"/>
          </a:xfrm>
          <a:prstGeom prst="rect">
            <a:avLst/>
          </a:prstGeom>
        </p:spPr>
      </p:pic>
      <p:sp>
        <p:nvSpPr>
          <p:cNvPr id="4" name="Slide Number Placeholder 3">
            <a:extLst>
              <a:ext uri="{FF2B5EF4-FFF2-40B4-BE49-F238E27FC236}">
                <a16:creationId xmlns:a16="http://schemas.microsoft.com/office/drawing/2014/main" id="{319C52B5-27CB-27CB-FAF0-718309668918}"/>
              </a:ext>
            </a:extLst>
          </p:cNvPr>
          <p:cNvSpPr>
            <a:spLocks noGrp="1"/>
          </p:cNvSpPr>
          <p:nvPr>
            <p:ph type="sldNum" sz="quarter" idx="12"/>
          </p:nvPr>
        </p:nvSpPr>
        <p:spPr/>
        <p:txBody>
          <a:bodyPr/>
          <a:lstStyle/>
          <a:p>
            <a:fld id="{9E5A8793-64DC-4018-91DA-C47D4E4A66C0}" type="slidenum">
              <a:rPr lang="en-US" smtClean="0"/>
              <a:t>9</a:t>
            </a:fld>
            <a:endParaRPr lang="en-US"/>
          </a:p>
        </p:txBody>
      </p:sp>
      <p:pic>
        <p:nvPicPr>
          <p:cNvPr id="8" name="Picture 7">
            <a:extLst>
              <a:ext uri="{FF2B5EF4-FFF2-40B4-BE49-F238E27FC236}">
                <a16:creationId xmlns:a16="http://schemas.microsoft.com/office/drawing/2014/main" id="{4E89A222-A627-8208-D684-E28D88C41451}"/>
              </a:ext>
            </a:extLst>
          </p:cNvPr>
          <p:cNvPicPr>
            <a:picLocks noChangeAspect="1"/>
          </p:cNvPicPr>
          <p:nvPr/>
        </p:nvPicPr>
        <p:blipFill>
          <a:blip r:embed="rId3"/>
          <a:stretch>
            <a:fillRect/>
          </a:stretch>
        </p:blipFill>
        <p:spPr>
          <a:xfrm>
            <a:off x="5621014" y="1627408"/>
            <a:ext cx="5924875" cy="3603182"/>
          </a:xfrm>
          <a:prstGeom prst="rect">
            <a:avLst/>
          </a:prstGeom>
        </p:spPr>
      </p:pic>
    </p:spTree>
    <p:extLst>
      <p:ext uri="{BB962C8B-B14F-4D97-AF65-F5344CB8AC3E}">
        <p14:creationId xmlns:p14="http://schemas.microsoft.com/office/powerpoint/2010/main" val="2992275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12E0C-C267-00F7-2C1B-5B9D1610A4BB}"/>
              </a:ext>
            </a:extLst>
          </p:cNvPr>
          <p:cNvSpPr>
            <a:spLocks noGrp="1"/>
          </p:cNvSpPr>
          <p:nvPr>
            <p:ph type="title"/>
          </p:nvPr>
        </p:nvSpPr>
        <p:spPr/>
        <p:txBody>
          <a:bodyPr/>
          <a:lstStyle/>
          <a:p>
            <a:r>
              <a:rPr lang="en-US" dirty="0"/>
              <a:t>Hospitalizations by Gender</a:t>
            </a:r>
          </a:p>
        </p:txBody>
      </p:sp>
      <p:pic>
        <p:nvPicPr>
          <p:cNvPr id="6" name="Content Placeholder 5">
            <a:extLst>
              <a:ext uri="{FF2B5EF4-FFF2-40B4-BE49-F238E27FC236}">
                <a16:creationId xmlns:a16="http://schemas.microsoft.com/office/drawing/2014/main" id="{AD2F58C4-3423-2F94-309F-7184DAD546FB}"/>
              </a:ext>
            </a:extLst>
          </p:cNvPr>
          <p:cNvPicPr>
            <a:picLocks noGrp="1" noChangeAspect="1"/>
          </p:cNvPicPr>
          <p:nvPr>
            <p:ph idx="1"/>
          </p:nvPr>
        </p:nvPicPr>
        <p:blipFill>
          <a:blip r:embed="rId2"/>
          <a:stretch>
            <a:fillRect/>
          </a:stretch>
        </p:blipFill>
        <p:spPr>
          <a:xfrm>
            <a:off x="256832" y="2263970"/>
            <a:ext cx="5105184" cy="1943018"/>
          </a:xfrm>
          <a:prstGeom prst="rect">
            <a:avLst/>
          </a:prstGeom>
        </p:spPr>
      </p:pic>
      <p:sp>
        <p:nvSpPr>
          <p:cNvPr id="4" name="Slide Number Placeholder 3">
            <a:extLst>
              <a:ext uri="{FF2B5EF4-FFF2-40B4-BE49-F238E27FC236}">
                <a16:creationId xmlns:a16="http://schemas.microsoft.com/office/drawing/2014/main" id="{5E904A1F-6546-36B0-9355-59E13D3D3251}"/>
              </a:ext>
            </a:extLst>
          </p:cNvPr>
          <p:cNvSpPr>
            <a:spLocks noGrp="1"/>
          </p:cNvSpPr>
          <p:nvPr>
            <p:ph type="sldNum" sz="quarter" idx="12"/>
          </p:nvPr>
        </p:nvSpPr>
        <p:spPr/>
        <p:txBody>
          <a:bodyPr/>
          <a:lstStyle/>
          <a:p>
            <a:fld id="{9E5A8793-64DC-4018-91DA-C47D4E4A66C0}" type="slidenum">
              <a:rPr lang="en-US" smtClean="0"/>
              <a:t>10</a:t>
            </a:fld>
            <a:endParaRPr lang="en-US"/>
          </a:p>
        </p:txBody>
      </p:sp>
      <p:pic>
        <p:nvPicPr>
          <p:cNvPr id="8" name="Picture 7">
            <a:extLst>
              <a:ext uri="{FF2B5EF4-FFF2-40B4-BE49-F238E27FC236}">
                <a16:creationId xmlns:a16="http://schemas.microsoft.com/office/drawing/2014/main" id="{9F58338B-E435-D93F-CC38-64ED9D32103D}"/>
              </a:ext>
            </a:extLst>
          </p:cNvPr>
          <p:cNvPicPr>
            <a:picLocks noChangeAspect="1"/>
          </p:cNvPicPr>
          <p:nvPr/>
        </p:nvPicPr>
        <p:blipFill>
          <a:blip r:embed="rId3"/>
          <a:stretch>
            <a:fillRect/>
          </a:stretch>
        </p:blipFill>
        <p:spPr>
          <a:xfrm>
            <a:off x="5525838" y="1649607"/>
            <a:ext cx="6020051" cy="3558785"/>
          </a:xfrm>
          <a:prstGeom prst="rect">
            <a:avLst/>
          </a:prstGeom>
        </p:spPr>
      </p:pic>
    </p:spTree>
    <p:extLst>
      <p:ext uri="{BB962C8B-B14F-4D97-AF65-F5344CB8AC3E}">
        <p14:creationId xmlns:p14="http://schemas.microsoft.com/office/powerpoint/2010/main" val="1691907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4346A-2C4A-E3E2-DB11-84F1C7081303}"/>
              </a:ext>
            </a:extLst>
          </p:cNvPr>
          <p:cNvSpPr>
            <a:spLocks noGrp="1"/>
          </p:cNvSpPr>
          <p:nvPr>
            <p:ph type="title"/>
          </p:nvPr>
        </p:nvSpPr>
        <p:spPr/>
        <p:txBody>
          <a:bodyPr/>
          <a:lstStyle/>
          <a:p>
            <a:r>
              <a:rPr lang="en-US" dirty="0"/>
              <a:t>Statistical Analysis: Length of Stay by Gender</a:t>
            </a:r>
          </a:p>
        </p:txBody>
      </p:sp>
      <p:pic>
        <p:nvPicPr>
          <p:cNvPr id="6" name="Content Placeholder 5">
            <a:extLst>
              <a:ext uri="{FF2B5EF4-FFF2-40B4-BE49-F238E27FC236}">
                <a16:creationId xmlns:a16="http://schemas.microsoft.com/office/drawing/2014/main" id="{47F9473F-BACE-1AE3-A3CA-9EF702987B63}"/>
              </a:ext>
            </a:extLst>
          </p:cNvPr>
          <p:cNvPicPr>
            <a:picLocks noGrp="1" noChangeAspect="1"/>
          </p:cNvPicPr>
          <p:nvPr>
            <p:ph idx="1"/>
          </p:nvPr>
        </p:nvPicPr>
        <p:blipFill>
          <a:blip r:embed="rId2"/>
          <a:stretch>
            <a:fillRect/>
          </a:stretch>
        </p:blipFill>
        <p:spPr>
          <a:xfrm>
            <a:off x="3082765" y="2065954"/>
            <a:ext cx="6026470" cy="1524504"/>
          </a:xfrm>
          <a:prstGeom prst="rect">
            <a:avLst/>
          </a:prstGeom>
        </p:spPr>
      </p:pic>
      <p:sp>
        <p:nvSpPr>
          <p:cNvPr id="4" name="Slide Number Placeholder 3">
            <a:extLst>
              <a:ext uri="{FF2B5EF4-FFF2-40B4-BE49-F238E27FC236}">
                <a16:creationId xmlns:a16="http://schemas.microsoft.com/office/drawing/2014/main" id="{92D601BA-F465-D80A-FF35-C6F443BFC331}"/>
              </a:ext>
            </a:extLst>
          </p:cNvPr>
          <p:cNvSpPr>
            <a:spLocks noGrp="1"/>
          </p:cNvSpPr>
          <p:nvPr>
            <p:ph type="sldNum" sz="quarter" idx="12"/>
          </p:nvPr>
        </p:nvSpPr>
        <p:spPr/>
        <p:txBody>
          <a:bodyPr/>
          <a:lstStyle/>
          <a:p>
            <a:fld id="{9E5A8793-64DC-4018-91DA-C47D4E4A66C0}" type="slidenum">
              <a:rPr lang="en-US" smtClean="0"/>
              <a:t>11</a:t>
            </a:fld>
            <a:endParaRPr lang="en-US"/>
          </a:p>
        </p:txBody>
      </p:sp>
      <p:pic>
        <p:nvPicPr>
          <p:cNvPr id="8" name="Picture 7">
            <a:extLst>
              <a:ext uri="{FF2B5EF4-FFF2-40B4-BE49-F238E27FC236}">
                <a16:creationId xmlns:a16="http://schemas.microsoft.com/office/drawing/2014/main" id="{1595A3D5-3FA5-12B6-F124-358F218D619E}"/>
              </a:ext>
            </a:extLst>
          </p:cNvPr>
          <p:cNvPicPr>
            <a:picLocks noChangeAspect="1"/>
          </p:cNvPicPr>
          <p:nvPr/>
        </p:nvPicPr>
        <p:blipFill>
          <a:blip r:embed="rId3"/>
          <a:stretch>
            <a:fillRect/>
          </a:stretch>
        </p:blipFill>
        <p:spPr>
          <a:xfrm>
            <a:off x="3082765" y="3803164"/>
            <a:ext cx="6093071" cy="1727626"/>
          </a:xfrm>
          <a:prstGeom prst="rect">
            <a:avLst/>
          </a:prstGeom>
        </p:spPr>
      </p:pic>
    </p:spTree>
    <p:extLst>
      <p:ext uri="{BB962C8B-B14F-4D97-AF65-F5344CB8AC3E}">
        <p14:creationId xmlns:p14="http://schemas.microsoft.com/office/powerpoint/2010/main" val="1543271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277E0-5F8F-C508-9416-740429E4A43A}"/>
              </a:ext>
            </a:extLst>
          </p:cNvPr>
          <p:cNvSpPr>
            <a:spLocks noGrp="1"/>
          </p:cNvSpPr>
          <p:nvPr>
            <p:ph type="title"/>
          </p:nvPr>
        </p:nvSpPr>
        <p:spPr/>
        <p:txBody>
          <a:bodyPr/>
          <a:lstStyle/>
          <a:p>
            <a:r>
              <a:rPr lang="en-US" dirty="0"/>
              <a:t>Statistical Analysis: Charges by Age Group</a:t>
            </a:r>
          </a:p>
        </p:txBody>
      </p:sp>
      <p:pic>
        <p:nvPicPr>
          <p:cNvPr id="6" name="Content Placeholder 5">
            <a:extLst>
              <a:ext uri="{FF2B5EF4-FFF2-40B4-BE49-F238E27FC236}">
                <a16:creationId xmlns:a16="http://schemas.microsoft.com/office/drawing/2014/main" id="{57BAD6AB-296E-846E-46F2-CB0FF056E37B}"/>
              </a:ext>
            </a:extLst>
          </p:cNvPr>
          <p:cNvPicPr>
            <a:picLocks noGrp="1" noChangeAspect="1"/>
          </p:cNvPicPr>
          <p:nvPr>
            <p:ph idx="1"/>
          </p:nvPr>
        </p:nvPicPr>
        <p:blipFill>
          <a:blip r:embed="rId2"/>
          <a:stretch>
            <a:fillRect/>
          </a:stretch>
        </p:blipFill>
        <p:spPr>
          <a:xfrm>
            <a:off x="1620402" y="2185814"/>
            <a:ext cx="8059275" cy="2486372"/>
          </a:xfrm>
          <a:prstGeom prst="rect">
            <a:avLst/>
          </a:prstGeom>
        </p:spPr>
      </p:pic>
      <p:sp>
        <p:nvSpPr>
          <p:cNvPr id="4" name="Slide Number Placeholder 3">
            <a:extLst>
              <a:ext uri="{FF2B5EF4-FFF2-40B4-BE49-F238E27FC236}">
                <a16:creationId xmlns:a16="http://schemas.microsoft.com/office/drawing/2014/main" id="{D9D730D8-B7A4-911D-AC97-ADD864E277A1}"/>
              </a:ext>
            </a:extLst>
          </p:cNvPr>
          <p:cNvSpPr>
            <a:spLocks noGrp="1"/>
          </p:cNvSpPr>
          <p:nvPr>
            <p:ph type="sldNum" sz="quarter" idx="12"/>
          </p:nvPr>
        </p:nvSpPr>
        <p:spPr/>
        <p:txBody>
          <a:bodyPr/>
          <a:lstStyle/>
          <a:p>
            <a:fld id="{9E5A8793-64DC-4018-91DA-C47D4E4A66C0}" type="slidenum">
              <a:rPr lang="en-US" smtClean="0"/>
              <a:t>12</a:t>
            </a:fld>
            <a:endParaRPr lang="en-US"/>
          </a:p>
        </p:txBody>
      </p:sp>
    </p:spTree>
    <p:extLst>
      <p:ext uri="{BB962C8B-B14F-4D97-AF65-F5344CB8AC3E}">
        <p14:creationId xmlns:p14="http://schemas.microsoft.com/office/powerpoint/2010/main" val="2607120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9A4E-89DB-5C97-9596-BD6E01453A64}"/>
              </a:ext>
            </a:extLst>
          </p:cNvPr>
          <p:cNvSpPr>
            <a:spLocks noGrp="1"/>
          </p:cNvSpPr>
          <p:nvPr>
            <p:ph type="title"/>
          </p:nvPr>
        </p:nvSpPr>
        <p:spPr/>
        <p:txBody>
          <a:bodyPr/>
          <a:lstStyle/>
          <a:p>
            <a:r>
              <a:rPr lang="en-US" dirty="0"/>
              <a:t>Dashboard-Code</a:t>
            </a:r>
          </a:p>
        </p:txBody>
      </p:sp>
      <p:pic>
        <p:nvPicPr>
          <p:cNvPr id="6" name="Content Placeholder 5">
            <a:extLst>
              <a:ext uri="{FF2B5EF4-FFF2-40B4-BE49-F238E27FC236}">
                <a16:creationId xmlns:a16="http://schemas.microsoft.com/office/drawing/2014/main" id="{B5577988-3029-64AE-396F-801B1034BBA3}"/>
              </a:ext>
            </a:extLst>
          </p:cNvPr>
          <p:cNvPicPr>
            <a:picLocks noGrp="1" noChangeAspect="1"/>
          </p:cNvPicPr>
          <p:nvPr>
            <p:ph idx="1"/>
          </p:nvPr>
        </p:nvPicPr>
        <p:blipFill>
          <a:blip r:embed="rId2"/>
          <a:stretch>
            <a:fillRect/>
          </a:stretch>
        </p:blipFill>
        <p:spPr>
          <a:xfrm>
            <a:off x="742133" y="1391221"/>
            <a:ext cx="3524742" cy="924054"/>
          </a:xfrm>
          <a:prstGeom prst="rect">
            <a:avLst/>
          </a:prstGeom>
        </p:spPr>
      </p:pic>
      <p:sp>
        <p:nvSpPr>
          <p:cNvPr id="4" name="Slide Number Placeholder 3">
            <a:extLst>
              <a:ext uri="{FF2B5EF4-FFF2-40B4-BE49-F238E27FC236}">
                <a16:creationId xmlns:a16="http://schemas.microsoft.com/office/drawing/2014/main" id="{617C3C34-D961-951E-1817-3AA0346E4E45}"/>
              </a:ext>
            </a:extLst>
          </p:cNvPr>
          <p:cNvSpPr>
            <a:spLocks noGrp="1"/>
          </p:cNvSpPr>
          <p:nvPr>
            <p:ph type="sldNum" sz="quarter" idx="12"/>
          </p:nvPr>
        </p:nvSpPr>
        <p:spPr/>
        <p:txBody>
          <a:bodyPr/>
          <a:lstStyle/>
          <a:p>
            <a:fld id="{9E5A8793-64DC-4018-91DA-C47D4E4A66C0}" type="slidenum">
              <a:rPr lang="en-US" smtClean="0"/>
              <a:t>13</a:t>
            </a:fld>
            <a:endParaRPr lang="en-US"/>
          </a:p>
        </p:txBody>
      </p:sp>
      <p:pic>
        <p:nvPicPr>
          <p:cNvPr id="8" name="Picture 7">
            <a:extLst>
              <a:ext uri="{FF2B5EF4-FFF2-40B4-BE49-F238E27FC236}">
                <a16:creationId xmlns:a16="http://schemas.microsoft.com/office/drawing/2014/main" id="{93CBB89E-8788-8A2C-8237-211CF7966BDB}"/>
              </a:ext>
            </a:extLst>
          </p:cNvPr>
          <p:cNvPicPr>
            <a:picLocks noChangeAspect="1"/>
          </p:cNvPicPr>
          <p:nvPr/>
        </p:nvPicPr>
        <p:blipFill>
          <a:blip r:embed="rId3"/>
          <a:stretch>
            <a:fillRect/>
          </a:stretch>
        </p:blipFill>
        <p:spPr>
          <a:xfrm>
            <a:off x="6014839" y="1391221"/>
            <a:ext cx="4035995" cy="5285232"/>
          </a:xfrm>
          <a:prstGeom prst="rect">
            <a:avLst/>
          </a:prstGeom>
        </p:spPr>
      </p:pic>
    </p:spTree>
    <p:extLst>
      <p:ext uri="{BB962C8B-B14F-4D97-AF65-F5344CB8AC3E}">
        <p14:creationId xmlns:p14="http://schemas.microsoft.com/office/powerpoint/2010/main" val="1880633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C8A30-36DF-497D-7CBC-A602DB4B7436}"/>
              </a:ext>
            </a:extLst>
          </p:cNvPr>
          <p:cNvSpPr>
            <a:spLocks noGrp="1"/>
          </p:cNvSpPr>
          <p:nvPr>
            <p:ph type="title"/>
          </p:nvPr>
        </p:nvSpPr>
        <p:spPr/>
        <p:txBody>
          <a:bodyPr/>
          <a:lstStyle/>
          <a:p>
            <a:r>
              <a:rPr lang="en-US" dirty="0"/>
              <a:t>Dashboard</a:t>
            </a:r>
          </a:p>
        </p:txBody>
      </p:sp>
      <p:pic>
        <p:nvPicPr>
          <p:cNvPr id="6" name="Content Placeholder 5">
            <a:extLst>
              <a:ext uri="{FF2B5EF4-FFF2-40B4-BE49-F238E27FC236}">
                <a16:creationId xmlns:a16="http://schemas.microsoft.com/office/drawing/2014/main" id="{F41EB1BE-69B1-6FF7-F306-3EAD8F6CF2DC}"/>
              </a:ext>
            </a:extLst>
          </p:cNvPr>
          <p:cNvPicPr>
            <a:picLocks noGrp="1" noChangeAspect="1"/>
          </p:cNvPicPr>
          <p:nvPr>
            <p:ph idx="1"/>
          </p:nvPr>
        </p:nvPicPr>
        <p:blipFill>
          <a:blip r:embed="rId2"/>
          <a:stretch>
            <a:fillRect/>
          </a:stretch>
        </p:blipFill>
        <p:spPr>
          <a:xfrm>
            <a:off x="2872309" y="1540574"/>
            <a:ext cx="5811494" cy="4195762"/>
          </a:xfrm>
          <a:prstGeom prst="rect">
            <a:avLst/>
          </a:prstGeom>
        </p:spPr>
      </p:pic>
      <p:sp>
        <p:nvSpPr>
          <p:cNvPr id="4" name="Slide Number Placeholder 3">
            <a:extLst>
              <a:ext uri="{FF2B5EF4-FFF2-40B4-BE49-F238E27FC236}">
                <a16:creationId xmlns:a16="http://schemas.microsoft.com/office/drawing/2014/main" id="{76C1F6A4-DB48-1408-AAAE-7ADEC00E3F9D}"/>
              </a:ext>
            </a:extLst>
          </p:cNvPr>
          <p:cNvSpPr>
            <a:spLocks noGrp="1"/>
          </p:cNvSpPr>
          <p:nvPr>
            <p:ph type="sldNum" sz="quarter" idx="12"/>
          </p:nvPr>
        </p:nvSpPr>
        <p:spPr/>
        <p:txBody>
          <a:bodyPr/>
          <a:lstStyle/>
          <a:p>
            <a:fld id="{9E5A8793-64DC-4018-91DA-C47D4E4A66C0}" type="slidenum">
              <a:rPr lang="en-US" smtClean="0"/>
              <a:t>14</a:t>
            </a:fld>
            <a:endParaRPr lang="en-US"/>
          </a:p>
        </p:txBody>
      </p:sp>
    </p:spTree>
    <p:extLst>
      <p:ext uri="{BB962C8B-B14F-4D97-AF65-F5344CB8AC3E}">
        <p14:creationId xmlns:p14="http://schemas.microsoft.com/office/powerpoint/2010/main" val="1448735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9262B-D363-DC10-F92A-0FB9473AD044}"/>
              </a:ext>
            </a:extLst>
          </p:cNvPr>
          <p:cNvSpPr>
            <a:spLocks noGrp="1"/>
          </p:cNvSpPr>
          <p:nvPr>
            <p:ph type="title"/>
          </p:nvPr>
        </p:nvSpPr>
        <p:spPr/>
        <p:txBody>
          <a:bodyPr/>
          <a:lstStyle/>
          <a:p>
            <a:r>
              <a:rPr lang="en-US" dirty="0"/>
              <a:t>Community Benefit Interpretation</a:t>
            </a:r>
          </a:p>
        </p:txBody>
      </p:sp>
      <p:sp>
        <p:nvSpPr>
          <p:cNvPr id="3" name="Content Placeholder 2">
            <a:extLst>
              <a:ext uri="{FF2B5EF4-FFF2-40B4-BE49-F238E27FC236}">
                <a16:creationId xmlns:a16="http://schemas.microsoft.com/office/drawing/2014/main" id="{96292C68-3896-1A88-2A1C-EF8B3B79FE4E}"/>
              </a:ext>
            </a:extLst>
          </p:cNvPr>
          <p:cNvSpPr>
            <a:spLocks noGrp="1"/>
          </p:cNvSpPr>
          <p:nvPr>
            <p:ph idx="1"/>
          </p:nvPr>
        </p:nvSpPr>
        <p:spPr/>
        <p:txBody>
          <a:bodyPr>
            <a:normAutofit lnSpcReduction="10000"/>
          </a:bodyPr>
          <a:lstStyle/>
          <a:p>
            <a:r>
              <a:rPr lang="en-US" dirty="0"/>
              <a:t>Over 2,000 mental health-related hospitalizations were identified in New York, with an average hospital stay of about 17 days, showing the seriousness of psychiatric crises.</a:t>
            </a:r>
          </a:p>
          <a:p>
            <a:r>
              <a:rPr lang="en-US" dirty="0"/>
              <a:t>Adults ages 30–49 had the highest hospitalization rates, and Black/African American patients represented one of the largest groups in the data.</a:t>
            </a:r>
          </a:p>
          <a:p>
            <a:r>
              <a:rPr lang="en-US" dirty="0"/>
              <a:t>Male patients stayed in the hospital longer on average than female patients, and statistical testing showed this difference was significant.</a:t>
            </a:r>
          </a:p>
          <a:p>
            <a:r>
              <a:rPr lang="en-US" dirty="0"/>
              <a:t>The findings suggest that communities may benefit from stronger mental health support systems, including crisis intervention programs, outpatient care, supportive housing, and early prevention services.</a:t>
            </a:r>
          </a:p>
        </p:txBody>
      </p:sp>
      <p:sp>
        <p:nvSpPr>
          <p:cNvPr id="4" name="Slide Number Placeholder 3">
            <a:extLst>
              <a:ext uri="{FF2B5EF4-FFF2-40B4-BE49-F238E27FC236}">
                <a16:creationId xmlns:a16="http://schemas.microsoft.com/office/drawing/2014/main" id="{49C672A8-3A35-A482-A69D-10D5848D3357}"/>
              </a:ext>
            </a:extLst>
          </p:cNvPr>
          <p:cNvSpPr>
            <a:spLocks noGrp="1"/>
          </p:cNvSpPr>
          <p:nvPr>
            <p:ph type="sldNum" sz="quarter" idx="12"/>
          </p:nvPr>
        </p:nvSpPr>
        <p:spPr/>
        <p:txBody>
          <a:bodyPr/>
          <a:lstStyle/>
          <a:p>
            <a:fld id="{9E5A8793-64DC-4018-91DA-C47D4E4A66C0}" type="slidenum">
              <a:rPr lang="en-US" smtClean="0"/>
              <a:t>15</a:t>
            </a:fld>
            <a:endParaRPr lang="en-US"/>
          </a:p>
        </p:txBody>
      </p:sp>
    </p:spTree>
    <p:extLst>
      <p:ext uri="{BB962C8B-B14F-4D97-AF65-F5344CB8AC3E}">
        <p14:creationId xmlns:p14="http://schemas.microsoft.com/office/powerpoint/2010/main" val="2827358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E1940-F0C5-C46A-6BF7-880FB15FEE52}"/>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17541C74-FB19-F201-1786-6E6B13DB3A90}"/>
              </a:ext>
            </a:extLst>
          </p:cNvPr>
          <p:cNvSpPr>
            <a:spLocks noGrp="1"/>
          </p:cNvSpPr>
          <p:nvPr>
            <p:ph idx="1"/>
          </p:nvPr>
        </p:nvSpPr>
        <p:spPr/>
        <p:txBody>
          <a:bodyPr>
            <a:normAutofit fontScale="92500" lnSpcReduction="10000"/>
          </a:bodyPr>
          <a:lstStyle/>
          <a:p>
            <a:r>
              <a:rPr lang="en-US" dirty="0"/>
              <a:t>The project analyzed psychiatric hospitalization patterns in New York using SPARCS hospital discharge data and statistical analysis to better understand mental health crises across demographic groups.</a:t>
            </a:r>
          </a:p>
          <a:p>
            <a:r>
              <a:rPr lang="en-US" dirty="0"/>
              <a:t>Adults ages 30–49 had the highest hospitalization rates, male patients had longer hospital stays, and hospital charges differed significantly across age groups.</a:t>
            </a:r>
          </a:p>
          <a:p>
            <a:r>
              <a:rPr lang="en-US" dirty="0"/>
              <a:t>A second data source from the NYC Department of Health helped explain how factors such as poverty, stress, housing instability, limited healthcare access, and substance use may contribute to mental health crises in different communities.</a:t>
            </a:r>
          </a:p>
          <a:p>
            <a:r>
              <a:rPr lang="en-US" dirty="0"/>
              <a:t>Combining hospital data with public health data showed how healthcare analytics can help identify communities that may benefit from stronger mental health services, prevention programs, and crisis intervention support.</a:t>
            </a:r>
          </a:p>
        </p:txBody>
      </p:sp>
      <p:sp>
        <p:nvSpPr>
          <p:cNvPr id="4" name="Slide Number Placeholder 3">
            <a:extLst>
              <a:ext uri="{FF2B5EF4-FFF2-40B4-BE49-F238E27FC236}">
                <a16:creationId xmlns:a16="http://schemas.microsoft.com/office/drawing/2014/main" id="{703653B0-9DF4-A0DB-74F0-60370A221CD5}"/>
              </a:ext>
            </a:extLst>
          </p:cNvPr>
          <p:cNvSpPr>
            <a:spLocks noGrp="1"/>
          </p:cNvSpPr>
          <p:nvPr>
            <p:ph type="sldNum" sz="quarter" idx="12"/>
          </p:nvPr>
        </p:nvSpPr>
        <p:spPr/>
        <p:txBody>
          <a:bodyPr/>
          <a:lstStyle/>
          <a:p>
            <a:fld id="{9E5A8793-64DC-4018-91DA-C47D4E4A66C0}" type="slidenum">
              <a:rPr lang="en-US" smtClean="0"/>
              <a:t>16</a:t>
            </a:fld>
            <a:endParaRPr lang="en-US"/>
          </a:p>
        </p:txBody>
      </p:sp>
    </p:spTree>
    <p:extLst>
      <p:ext uri="{BB962C8B-B14F-4D97-AF65-F5344CB8AC3E}">
        <p14:creationId xmlns:p14="http://schemas.microsoft.com/office/powerpoint/2010/main" val="3312380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10419-D3C1-1DAC-3B21-C6550DB9BC90}"/>
              </a:ext>
            </a:extLst>
          </p:cNvPr>
          <p:cNvSpPr>
            <a:spLocks noGrp="1"/>
          </p:cNvSpPr>
          <p:nvPr>
            <p:ph type="title"/>
          </p:nvPr>
        </p:nvSpPr>
        <p:spPr/>
        <p:txBody>
          <a:bodyPr/>
          <a:lstStyle/>
          <a:p>
            <a:r>
              <a:rPr lang="en-US" dirty="0"/>
              <a:t>Challenges Encountered</a:t>
            </a:r>
          </a:p>
        </p:txBody>
      </p:sp>
      <p:sp>
        <p:nvSpPr>
          <p:cNvPr id="3" name="Content Placeholder 2">
            <a:extLst>
              <a:ext uri="{FF2B5EF4-FFF2-40B4-BE49-F238E27FC236}">
                <a16:creationId xmlns:a16="http://schemas.microsoft.com/office/drawing/2014/main" id="{814BCD8E-5B6A-3E74-4525-8085E5A863DA}"/>
              </a:ext>
            </a:extLst>
          </p:cNvPr>
          <p:cNvSpPr>
            <a:spLocks noGrp="1"/>
          </p:cNvSpPr>
          <p:nvPr>
            <p:ph idx="1"/>
          </p:nvPr>
        </p:nvSpPr>
        <p:spPr/>
        <p:txBody>
          <a:bodyPr/>
          <a:lstStyle/>
          <a:p>
            <a:r>
              <a:rPr lang="en-US" dirty="0"/>
              <a:t>One major challenge was cleaning and preparing a large real-world healthcare dataset before analysis could begin.</a:t>
            </a:r>
          </a:p>
          <a:p>
            <a:r>
              <a:rPr lang="en-US" dirty="0"/>
              <a:t>Some variables were stored in the wrong format, such as numbers saved as text, which caused errors during calculations and statistical testing.</a:t>
            </a:r>
          </a:p>
          <a:p>
            <a:r>
              <a:rPr lang="en-US" dirty="0"/>
              <a:t>The dataset also had unexpected or changed variable names, requiring the code to be adjusted after checking the dataset structure.</a:t>
            </a:r>
          </a:p>
          <a:p>
            <a:r>
              <a:rPr lang="en-US" dirty="0"/>
              <a:t>The dataset did not directly identify whether hospitalizations were voluntary or involuntary, so the project focused more broadly on psychiatric hospitalizations as indicators of severe mental health crises.</a:t>
            </a:r>
          </a:p>
        </p:txBody>
      </p:sp>
      <p:sp>
        <p:nvSpPr>
          <p:cNvPr id="4" name="Slide Number Placeholder 3">
            <a:extLst>
              <a:ext uri="{FF2B5EF4-FFF2-40B4-BE49-F238E27FC236}">
                <a16:creationId xmlns:a16="http://schemas.microsoft.com/office/drawing/2014/main" id="{480E0AC9-2ED1-ED5A-23EB-56634AA4D0C7}"/>
              </a:ext>
            </a:extLst>
          </p:cNvPr>
          <p:cNvSpPr>
            <a:spLocks noGrp="1"/>
          </p:cNvSpPr>
          <p:nvPr>
            <p:ph type="sldNum" sz="quarter" idx="12"/>
          </p:nvPr>
        </p:nvSpPr>
        <p:spPr/>
        <p:txBody>
          <a:bodyPr/>
          <a:lstStyle/>
          <a:p>
            <a:fld id="{9E5A8793-64DC-4018-91DA-C47D4E4A66C0}" type="slidenum">
              <a:rPr lang="en-US" smtClean="0"/>
              <a:t>17</a:t>
            </a:fld>
            <a:endParaRPr lang="en-US"/>
          </a:p>
        </p:txBody>
      </p:sp>
    </p:spTree>
    <p:extLst>
      <p:ext uri="{BB962C8B-B14F-4D97-AF65-F5344CB8AC3E}">
        <p14:creationId xmlns:p14="http://schemas.microsoft.com/office/powerpoint/2010/main" val="690488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12BCC-771D-74DE-A8C5-08EA70B25D12}"/>
              </a:ext>
            </a:extLst>
          </p:cNvPr>
          <p:cNvSpPr>
            <a:spLocks noGrp="1"/>
          </p:cNvSpPr>
          <p:nvPr>
            <p:ph type="title"/>
          </p:nvPr>
        </p:nvSpPr>
        <p:spPr/>
        <p:txBody>
          <a:bodyPr/>
          <a:lstStyle/>
          <a:p>
            <a:r>
              <a:rPr lang="en-US" dirty="0"/>
              <a:t>New Feature Not Covered in Class- Shiny Dashboard</a:t>
            </a:r>
          </a:p>
        </p:txBody>
      </p:sp>
      <p:sp>
        <p:nvSpPr>
          <p:cNvPr id="3" name="Content Placeholder 2">
            <a:extLst>
              <a:ext uri="{FF2B5EF4-FFF2-40B4-BE49-F238E27FC236}">
                <a16:creationId xmlns:a16="http://schemas.microsoft.com/office/drawing/2014/main" id="{D1C42A23-D8F2-80F1-0EB3-787EABFCF6A0}"/>
              </a:ext>
            </a:extLst>
          </p:cNvPr>
          <p:cNvSpPr>
            <a:spLocks noGrp="1"/>
          </p:cNvSpPr>
          <p:nvPr>
            <p:ph idx="1"/>
          </p:nvPr>
        </p:nvSpPr>
        <p:spPr/>
        <p:txBody>
          <a:bodyPr>
            <a:normAutofit lnSpcReduction="10000"/>
          </a:bodyPr>
          <a:lstStyle/>
          <a:p>
            <a:r>
              <a:rPr lang="en-US" dirty="0"/>
              <a:t>A new feature added to the project was an interactive Shiny dashboard that allows users to explore hospitalization trends by age group, gender, race, and hospital county.</a:t>
            </a:r>
          </a:p>
          <a:p>
            <a:r>
              <a:rPr lang="en-US" dirty="0"/>
              <a:t>The dashboard goes beyond static graphs because users can interact with the data and choose which variables they want to analyze.</a:t>
            </a:r>
          </a:p>
          <a:p>
            <a:r>
              <a:rPr lang="en-US" dirty="0"/>
              <a:t>The project also involved working with a large real-world healthcare dataset containing inconsistent formatting, healthcare coding systems, and complex demographic information.</a:t>
            </a:r>
          </a:p>
          <a:p>
            <a:r>
              <a:rPr lang="en-US" dirty="0"/>
              <a:t>Multiple data science techniques were combined in a public health setting, including data cleaning, transformation, visualization, statistical testing, and interpretation of healthcare trends to support community mental health planning.</a:t>
            </a:r>
          </a:p>
        </p:txBody>
      </p:sp>
      <p:sp>
        <p:nvSpPr>
          <p:cNvPr id="4" name="Slide Number Placeholder 3">
            <a:extLst>
              <a:ext uri="{FF2B5EF4-FFF2-40B4-BE49-F238E27FC236}">
                <a16:creationId xmlns:a16="http://schemas.microsoft.com/office/drawing/2014/main" id="{F00FEA88-2150-6A13-1DDC-3FB77433949B}"/>
              </a:ext>
            </a:extLst>
          </p:cNvPr>
          <p:cNvSpPr>
            <a:spLocks noGrp="1"/>
          </p:cNvSpPr>
          <p:nvPr>
            <p:ph type="sldNum" sz="quarter" idx="12"/>
          </p:nvPr>
        </p:nvSpPr>
        <p:spPr/>
        <p:txBody>
          <a:bodyPr/>
          <a:lstStyle/>
          <a:p>
            <a:fld id="{9E5A8793-64DC-4018-91DA-C47D4E4A66C0}" type="slidenum">
              <a:rPr lang="en-US" smtClean="0"/>
              <a:t>18</a:t>
            </a:fld>
            <a:endParaRPr lang="en-US"/>
          </a:p>
        </p:txBody>
      </p:sp>
    </p:spTree>
    <p:extLst>
      <p:ext uri="{BB962C8B-B14F-4D97-AF65-F5344CB8AC3E}">
        <p14:creationId xmlns:p14="http://schemas.microsoft.com/office/powerpoint/2010/main" val="15591141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23</TotalTime>
  <Words>713</Words>
  <Application>Microsoft Office PowerPoint</Application>
  <PresentationFormat>Widescreen</PresentationFormat>
  <Paragraphs>63</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Century Gothic</vt:lpstr>
      <vt:lpstr>Wingdings 3</vt:lpstr>
      <vt:lpstr>Ion</vt:lpstr>
      <vt:lpstr>Data 607 Final Project- Involuntary Psychiatric Hospitalization Rates in New York</vt:lpstr>
      <vt:lpstr>Introduction</vt:lpstr>
      <vt:lpstr>Packages Installed</vt:lpstr>
      <vt:lpstr>Data Sources</vt:lpstr>
      <vt:lpstr>Data Cleaning and Transformation</vt:lpstr>
      <vt:lpstr>Mental Health-Related Hospitalizations</vt:lpstr>
      <vt:lpstr>Summary Statistics</vt:lpstr>
      <vt:lpstr>Hospitalizations by Age Group</vt:lpstr>
      <vt:lpstr>Hospitalizations by Race</vt:lpstr>
      <vt:lpstr>Hospitalizations by Gender</vt:lpstr>
      <vt:lpstr>Statistical Analysis: Length of Stay by Gender</vt:lpstr>
      <vt:lpstr>Statistical Analysis: Charges by Age Group</vt:lpstr>
      <vt:lpstr>Dashboard-Code</vt:lpstr>
      <vt:lpstr>Dashboard</vt:lpstr>
      <vt:lpstr>Community Benefit Interpretation</vt:lpstr>
      <vt:lpstr>Conclusion</vt:lpstr>
      <vt:lpstr>Challenges Encountered</vt:lpstr>
      <vt:lpstr>New Feature Not Covered in Class- Shiny Dashboard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 Bravo bb2955</dc:creator>
  <cp:lastModifiedBy>Ben Bravo bb2955</cp:lastModifiedBy>
  <cp:revision>1</cp:revision>
  <dcterms:created xsi:type="dcterms:W3CDTF">2026-05-13T06:45:06Z</dcterms:created>
  <dcterms:modified xsi:type="dcterms:W3CDTF">2026-05-13T07:08:11Z</dcterms:modified>
</cp:coreProperties>
</file>